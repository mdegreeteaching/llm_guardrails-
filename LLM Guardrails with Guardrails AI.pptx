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Default Extension="fntdata" ContentType="application/x-fontdata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 embedTrueTypeFonts="1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</ns0:sldIdLst>
  <ns0:sldSz cx="12192000" cy="6858000" type="screen4x3"/>
  <ns0:notesSz cx="6858000" cy="9144000"/>
  <ns0:embeddedFontLst>
    <ns0:embeddedFont>
      <ns0:font typeface="Inter"/>
      <ns0:bold ns1:id="rIdFont22"/>
      <ns0:regular ns1:id="rIdFont23"/>
    </ns0:embeddedFont>
    <ns0:embeddedFont>
      <ns0:font typeface="Outfit"/>
      <ns0:bold ns1:id="rIdFont24"/>
    </ns0:embeddedFont>
  </ns0:embeddedFontLst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8" Type="http://schemas.openxmlformats.org/officeDocument/2006/relationships/slide" Target="slides/slide2.xml" /><ns0:Relationship Id="rId9" Type="http://schemas.openxmlformats.org/officeDocument/2006/relationships/slide" Target="slides/slide3.xml" /><ns0:Relationship Id="rId10" Type="http://schemas.openxmlformats.org/officeDocument/2006/relationships/slide" Target="slides/slide4.xml" /><ns0:Relationship Id="rId11" Type="http://schemas.openxmlformats.org/officeDocument/2006/relationships/slide" Target="slides/slide5.xml" /><ns0:Relationship Id="rId12" Type="http://schemas.openxmlformats.org/officeDocument/2006/relationships/slide" Target="slides/slide6.xml" /><ns0:Relationship Id="rId13" Type="http://schemas.openxmlformats.org/officeDocument/2006/relationships/slide" Target="slides/slide7.xml" /><ns0:Relationship Id="rId14" Type="http://schemas.openxmlformats.org/officeDocument/2006/relationships/slide" Target="slides/slide8.xml" /><ns0:Relationship Id="rId15" Type="http://schemas.openxmlformats.org/officeDocument/2006/relationships/slide" Target="slides/slide9.xml" /><ns0:Relationship Id="rId16" Type="http://schemas.openxmlformats.org/officeDocument/2006/relationships/slide" Target="slides/slide10.xml" /><ns0:Relationship Id="rId17" Type="http://schemas.openxmlformats.org/officeDocument/2006/relationships/slide" Target="slides/slide11.xml" /><ns0:Relationship Id="rId18" Type="http://schemas.openxmlformats.org/officeDocument/2006/relationships/slide" Target="slides/slide12.xml" /><ns0:Relationship Id="rId19" Type="http://schemas.openxmlformats.org/officeDocument/2006/relationships/slide" Target="slides/slide13.xml" /><ns0:Relationship Id="rId20" Type="http://schemas.openxmlformats.org/officeDocument/2006/relationships/slide" Target="slides/slide14.xml" /><ns0:Relationship Id="rId21" Type="http://schemas.openxmlformats.org/officeDocument/2006/relationships/slide" Target="slides/slide15.xml" /><ns0:Relationship Id="rIdFont22" Type="http://schemas.openxmlformats.org/officeDocument/2006/relationships/font" Target="fonts/ee493ef9-fe97-4a8a-bfbe-d93ff6f7ef9f.fntdata" /><ns0:Relationship Id="rIdFont23" Type="http://schemas.openxmlformats.org/officeDocument/2006/relationships/font" Target="fonts/c5631325-93d0-4d08-a286-7e169af41c43.fntdata" /><ns0:Relationship Id="rIdFont24" Type="http://schemas.openxmlformats.org/officeDocument/2006/relationships/font" Target="fonts/780ca825-6bc5-4d0a-8297-b01db3132247.fntdata" /></ns0: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795837" y="3079402"/>
            <a:ext cx="4067175" cy="866775"/>
          </a:xfrm>
          <a:prstGeom prst="rect">
            <a:avLst/>
          </a:prstGeom>
          <a:solidFill>
            <a:srgbClr val="F86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64296" y="2212627"/>
            <a:ext cx="7263407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5400" i="0" u="none">
                <a:solidFill>
                  <a:srgbClr val="F8FAFC"/>
                </a:solidFill>
                <a:latin typeface="Outfit"/>
              </a:rPr>
              <a:t>LLM Guardrails </a:t>
            </a:r>
            <a:r>
              <a:t>
</a:t>
            </a:r>
            <a:r>
              <a:rPr b="1" sz="5400" i="0" u="none">
                <a:solidFill>
                  <a:srgbClr val="F8FAFC"/>
                </a:solidFill>
                <a:latin typeface="Outfit"/>
              </a:rPr>
              <a:t>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7234" y="4136677"/>
            <a:ext cx="6917531" cy="365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b="0" sz="1800" i="0" u="none">
                <a:solidFill>
                  <a:srgbClr val="A3A3A3"/>
                </a:solidFill>
                <a:latin typeface="Inter"/>
              </a:rPr>
              <a:t>Output Validation &amp; The Responsible AI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87440" y="3079402"/>
            <a:ext cx="5083968" cy="8667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5400" i="0" u="none">
                <a:solidFill>
                  <a:srgbClr val="F8FAFC"/>
                </a:solidFill>
                <a:latin typeface="Outfit"/>
              </a:rPr>
              <a:t>Guardrails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650" y="3010048"/>
            <a:ext cx="285750" cy="247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2950" y="3518594"/>
            <a:ext cx="228600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6262" y="4027140"/>
            <a:ext cx="257175" cy="24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4825" y="4535685"/>
            <a:ext cx="228600" cy="2476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3837" y="5044231"/>
            <a:ext cx="285750" cy="247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45468" y="1200298"/>
            <a:ext cx="8501062" cy="7715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4800" i="0" u="none">
                <a:solidFill>
                  <a:srgbClr val="F8FAFC"/>
                </a:solidFill>
                <a:latin typeface="Outfit"/>
              </a:rPr>
              <a:t>Foundational Concepts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8296" y="2962423"/>
            <a:ext cx="5155406" cy="365670"/>
          </a:xfrm>
          <a:prstGeom prst="rect">
            <a:avLst/>
          </a:prstGeom>
          <a:noFill/>
        </p:spPr>
        <p:txBody>
          <a:bodyPr wrap="none" lIns="428625" rIns="0" t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b="0" sz="1800" i="0" u="none">
                <a:solidFill>
                  <a:srgbClr val="D1D5DB"/>
                </a:solidFill>
                <a:latin typeface="Inter"/>
              </a:rPr>
              <a:t>The Non-Deterministic Black 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8296" y="3470969"/>
            <a:ext cx="5155406" cy="365670"/>
          </a:xfrm>
          <a:prstGeom prst="rect">
            <a:avLst/>
          </a:prstGeom>
          <a:noFill/>
        </p:spPr>
        <p:txBody>
          <a:bodyPr wrap="none" lIns="371475" rIns="0" t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b="0" sz="1800" i="0" u="none">
                <a:solidFill>
                  <a:srgbClr val="D1D5DB"/>
                </a:solidFill>
                <a:latin typeface="Inter"/>
              </a:rPr>
              <a:t>Alignment vs. Guardrails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8296" y="3979515"/>
            <a:ext cx="5155406" cy="365670"/>
          </a:xfrm>
          <a:prstGeom prst="rect">
            <a:avLst/>
          </a:prstGeom>
          <a:noFill/>
        </p:spPr>
        <p:txBody>
          <a:bodyPr wrap="none" lIns="400050" rIns="0" t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b="0" sz="1800" i="0" u="none">
                <a:solidFill>
                  <a:srgbClr val="D1D5DB"/>
                </a:solidFill>
                <a:latin typeface="Inter"/>
              </a:rPr>
              <a:t>The Sandwich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296" y="4488060"/>
            <a:ext cx="5155406" cy="365670"/>
          </a:xfrm>
          <a:prstGeom prst="rect">
            <a:avLst/>
          </a:prstGeom>
          <a:noFill/>
        </p:spPr>
        <p:txBody>
          <a:bodyPr wrap="none" lIns="371475" rIns="0" t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b="0" sz="1800" i="0" u="none">
                <a:solidFill>
                  <a:srgbClr val="D1D5DB"/>
                </a:solidFill>
                <a:latin typeface="Inter"/>
              </a:rPr>
              <a:t>The Five Core Vulnerabilities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8296" y="4996606"/>
            <a:ext cx="5155406" cy="365670"/>
          </a:xfrm>
          <a:prstGeom prst="rect">
            <a:avLst/>
          </a:prstGeom>
          <a:noFill/>
        </p:spPr>
        <p:txBody>
          <a:bodyPr wrap="none" lIns="428625" rIns="0" t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b="0" sz="1800" i="0" u="none">
                <a:solidFill>
                  <a:srgbClr val="D1D5DB"/>
                </a:solidFill>
                <a:latin typeface="Inter"/>
              </a:rPr>
              <a:t>Live Lab: Pipeline Implementation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81025" y="1247775"/>
            <a:ext cx="11029950" cy="9525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1025" y="5184278"/>
            <a:ext cx="11029950" cy="689520"/>
          </a:xfrm>
          <a:prstGeom prst="roundRect">
            <a:avLst>
              <a:gd name="adj" fmla="val 11051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079575"/>
            <a:ext cx="266700" cy="266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1025" y="581025"/>
            <a:ext cx="11610975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300" i="0" u="none">
                <a:solidFill>
                  <a:srgbClr val="F8FAFC"/>
                </a:solidFill>
                <a:latin typeface="Outfit"/>
              </a:rPr>
              <a:t>The Non-Deterministic Black 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273843" y="5384303"/>
            <a:ext cx="12739687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b="1" sz="1425" i="0" u="none">
                <a:solidFill>
                  <a:srgbClr val="FB923C"/>
                </a:solidFill>
                <a:latin typeface="Inter"/>
              </a:rPr>
              <a:t>The Core Problem: Forcing predictable safety onto an unpredictable system.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1025" y="2041475"/>
            <a:ext cx="6925865" cy="333375"/>
          </a:xfrm>
          <a:prstGeom prst="rect">
            <a:avLst/>
          </a:prstGeom>
          <a:noFill/>
        </p:spPr>
        <p:txBody>
          <a:bodyPr wrap="none" lIns="36195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Traditional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1025" y="2517725"/>
            <a:ext cx="6596062" cy="365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b="1" sz="1800" i="0" u="none">
                <a:solidFill>
                  <a:srgbClr val="F8FAFC"/>
                </a:solidFill>
                <a:latin typeface="Inter"/>
              </a:rPr>
              <a:t>Deterministic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4125" y="2041475"/>
            <a:ext cx="5857875" cy="333375"/>
          </a:xfrm>
          <a:prstGeom prst="rect">
            <a:avLst/>
          </a:prstGeom>
          <a:noFill/>
        </p:spPr>
        <p:txBody>
          <a:bodyPr wrap="none" lIns="9525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Large Language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4125" y="2517725"/>
            <a:ext cx="5857875" cy="365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b="1" sz="1800" i="0" u="none">
                <a:solidFill>
                  <a:srgbClr val="F8FAFC"/>
                </a:solidFill>
                <a:latin typeface="Inter"/>
              </a:rPr>
              <a:t>Probabilistic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73896"/>
            <a:ext cx="6262687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E5E7EB"/>
                </a:solidFill>
                <a:latin typeface="Inter"/>
              </a:rPr>
              <a:t>Predictable execution: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2 + 2 always equals 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53866"/>
            <a:ext cx="6262687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E5E7EB"/>
                </a:solidFill>
                <a:latin typeface="Inter"/>
              </a:rPr>
              <a:t>Unit-testable: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Standardized expected outputs.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33837"/>
            <a:ext cx="6262687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E5E7EB"/>
                </a:solidFill>
                <a:latin typeface="Inter"/>
              </a:rPr>
              <a:t>Strict logic: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Follows exact programmed paths.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073896"/>
            <a:ext cx="552450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E5E7EB"/>
                </a:solidFill>
                <a:latin typeface="Inter"/>
              </a:rPr>
              <a:t>Predictive text: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Calculates next-word statistics.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0" y="3553866"/>
            <a:ext cx="552450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E5E7EB"/>
                </a:solidFill>
                <a:latin typeface="Inter"/>
              </a:rPr>
              <a:t>Variable output: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Identical prompts yield different results.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0" y="4033837"/>
            <a:ext cx="5038725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E5E7EB"/>
                </a:solidFill>
                <a:latin typeface="Inter"/>
              </a:rPr>
              <a:t>Unreliable compliance: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System instructions easily bypassed.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025" y="3016746"/>
            <a:ext cx="161925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0" sz="2250" i="0" u="none">
                <a:solidFill>
                  <a:srgbClr val="FB923C"/>
                </a:solidFill>
                <a:latin typeface="Inter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1025" y="3496716"/>
            <a:ext cx="161925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0" sz="2250" i="0" u="none">
                <a:solidFill>
                  <a:srgbClr val="FB923C"/>
                </a:solidFill>
                <a:latin typeface="Inte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1025" y="3976687"/>
            <a:ext cx="161925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0" sz="2250" i="0" u="none">
                <a:solidFill>
                  <a:srgbClr val="FB923C"/>
                </a:solidFill>
                <a:latin typeface="Inte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4125" y="3016746"/>
            <a:ext cx="161925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0" sz="2250" i="0" u="none">
                <a:solidFill>
                  <a:srgbClr val="FB923C"/>
                </a:solidFill>
                <a:latin typeface="Inter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4125" y="3496716"/>
            <a:ext cx="161925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0" sz="2250" i="0" u="none">
                <a:solidFill>
                  <a:srgbClr val="FB923C"/>
                </a:solidFill>
                <a:latin typeface="Inte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4125" y="3976687"/>
            <a:ext cx="161925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0" sz="2250" i="0" u="none">
                <a:solidFill>
                  <a:srgbClr val="FB923C"/>
                </a:solidFill>
                <a:latin typeface="Inter"/>
              </a:rPr>
              <a:t>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81025" y="1247775"/>
            <a:ext cx="11029950" cy="9525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1025" y="2680394"/>
            <a:ext cx="5276850" cy="2554337"/>
          </a:xfrm>
          <a:prstGeom prst="roundRect">
            <a:avLst>
              <a:gd name="adj" fmla="val 4474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334125" y="2680394"/>
            <a:ext cx="5276850" cy="2554337"/>
          </a:xfrm>
          <a:prstGeom prst="roundRect">
            <a:avLst>
              <a:gd name="adj" fmla="val 4474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" y="3109019"/>
            <a:ext cx="266700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3109019"/>
            <a:ext cx="333375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1025" y="581025"/>
            <a:ext cx="11610975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300" i="0" u="none">
                <a:solidFill>
                  <a:srgbClr val="F8FAFC"/>
                </a:solidFill>
                <a:latin typeface="Outfit"/>
              </a:rPr>
              <a:t>Alignment vs. Guardrails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3070919"/>
            <a:ext cx="5900737" cy="333375"/>
          </a:xfrm>
          <a:prstGeom prst="rect">
            <a:avLst/>
          </a:prstGeom>
          <a:noFill/>
        </p:spPr>
        <p:txBody>
          <a:bodyPr wrap="none" lIns="36195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Alignment (The Brain)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547169"/>
            <a:ext cx="56197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Pre-deployment fine-tuning.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979515"/>
            <a:ext cx="56197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RLHF establishes baseline helpfulness.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411860"/>
            <a:ext cx="56197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Vulnerable to runtime jailbreaks.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4650" y="3070919"/>
            <a:ext cx="5467350" cy="333375"/>
          </a:xfrm>
          <a:prstGeom prst="rect">
            <a:avLst/>
          </a:prstGeom>
          <a:noFill/>
        </p:spPr>
        <p:txBody>
          <a:bodyPr wrap="none" lIns="428625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Guardrails (The Bouncer)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4650" y="3547169"/>
            <a:ext cx="54673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External deterministic scripts.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4650" y="3979515"/>
            <a:ext cx="54673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Runtime traffic interception.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4650" y="4411860"/>
            <a:ext cx="54673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Independent of LLM prompt logic.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81025" y="1247775"/>
            <a:ext cx="11029950" cy="9525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1025" y="2323207"/>
            <a:ext cx="3422600" cy="3268712"/>
          </a:xfrm>
          <a:prstGeom prst="roundRect">
            <a:avLst>
              <a:gd name="adj" fmla="val 3496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4625" y="2323207"/>
            <a:ext cx="3422600" cy="3268712"/>
          </a:xfrm>
          <a:prstGeom prst="roundRect">
            <a:avLst>
              <a:gd name="adj" fmla="val 3496"/>
            </a:avLst>
          </a:prstGeom>
          <a:solidFill>
            <a:srgbClr val="1A1A1A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8225" y="2323207"/>
            <a:ext cx="3422600" cy="3268712"/>
          </a:xfrm>
          <a:prstGeom prst="roundRect">
            <a:avLst>
              <a:gd name="adj" fmla="val 3496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5075" y="2761357"/>
            <a:ext cx="514350" cy="5143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676" y="2761357"/>
            <a:ext cx="514350" cy="5143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2276" y="2761357"/>
            <a:ext cx="514350" cy="5143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1025" y="581025"/>
            <a:ext cx="11610975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300" i="0" u="none">
                <a:solidFill>
                  <a:srgbClr val="F8FAFC"/>
                </a:solidFill>
                <a:latin typeface="Outfit"/>
              </a:rPr>
              <a:t>The Sandwich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7097" y="3570982"/>
            <a:ext cx="2450306" cy="333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2100" i="0" u="none">
                <a:solidFill>
                  <a:srgbClr val="F8FAFC"/>
                </a:solidFill>
                <a:latin typeface="Outfit"/>
              </a:rPr>
              <a:t>Input Guardrail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532" y="4047232"/>
            <a:ext cx="3119437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Intercepts initial user prompt.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782" y="4479577"/>
            <a:ext cx="2928937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Blocks malicious injections.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3255" y="3570982"/>
            <a:ext cx="1525190" cy="333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2100" i="0" u="none">
                <a:solidFill>
                  <a:srgbClr val="F8FAFC"/>
                </a:solidFill>
                <a:latin typeface="Outfit"/>
              </a:rPr>
              <a:t>Core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7804" y="4047232"/>
            <a:ext cx="3036093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Processes sanitized prompt.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894" y="4479577"/>
            <a:ext cx="3540062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Generates probabilistic response.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8028" y="3570982"/>
            <a:ext cx="2762845" cy="333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2100" i="0" u="none">
                <a:solidFill>
                  <a:srgbClr val="F8FAFC"/>
                </a:solidFill>
                <a:latin typeface="Outfit"/>
              </a:rPr>
              <a:t>Output Guardrail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5685" y="4047232"/>
            <a:ext cx="3107531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Validates response structure.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8560" y="4479577"/>
            <a:ext cx="2821781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Filters toxic hallucinations.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81025" y="1247775"/>
            <a:ext cx="11029950" cy="9525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548086"/>
            <a:ext cx="228600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25" y="3123307"/>
            <a:ext cx="200025" cy="24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25" y="3698527"/>
            <a:ext cx="171450" cy="2476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25" y="4273748"/>
            <a:ext cx="257175" cy="2476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025" y="4848969"/>
            <a:ext cx="171450" cy="2476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1025" y="581025"/>
            <a:ext cx="11610975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300" i="0" u="none">
                <a:solidFill>
                  <a:srgbClr val="F8FAFC"/>
                </a:solidFill>
                <a:latin typeface="Outfit"/>
              </a:rPr>
              <a:t>The Five Core Vulnerabilities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9650" y="2519511"/>
            <a:ext cx="111823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E5E7EB"/>
                </a:solidFill>
                <a:latin typeface="Inter"/>
              </a:rPr>
              <a:t>Topical Drift: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Refusing off-topic persona requests.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3094732"/>
            <a:ext cx="111823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E5E7EB"/>
                </a:solidFill>
                <a:latin typeface="Inter"/>
              </a:rPr>
              <a:t>Prompt Injection: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Blocking malicious systemic overrides.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9650" y="3669952"/>
            <a:ext cx="111823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E5E7EB"/>
                </a:solidFill>
                <a:latin typeface="Inter"/>
              </a:rPr>
              <a:t>Hallucinations: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Stopping invented factual claims.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650" y="4245173"/>
            <a:ext cx="111823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E5E7EB"/>
                </a:solidFill>
                <a:latin typeface="Inter"/>
              </a:rPr>
              <a:t>Data Leakage (PII):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Preventing sensitive data exposure.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650" y="4820394"/>
            <a:ext cx="111823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E5E7EB"/>
                </a:solidFill>
                <a:latin typeface="Inter"/>
              </a:rPr>
              <a:t>Structural Failure: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Enforcing strict JSON schemas.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1025" y="2462361"/>
            <a:ext cx="161925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0" sz="2250" i="0" u="none">
                <a:solidFill>
                  <a:srgbClr val="FB923C"/>
                </a:solidFill>
                <a:latin typeface="Inter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025" y="3037582"/>
            <a:ext cx="161925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0" sz="2250" i="0" u="none">
                <a:solidFill>
                  <a:srgbClr val="FB923C"/>
                </a:solidFill>
                <a:latin typeface="Inter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025" y="3612802"/>
            <a:ext cx="161925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0" sz="2250" i="0" u="none">
                <a:solidFill>
                  <a:srgbClr val="FB923C"/>
                </a:solidFill>
                <a:latin typeface="Inter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025" y="4188023"/>
            <a:ext cx="161925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0" sz="2250" i="0" u="none">
                <a:solidFill>
                  <a:srgbClr val="FB923C"/>
                </a:solidFill>
                <a:latin typeface="Inter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1025" y="4763244"/>
            <a:ext cx="161925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0" sz="2250" i="0" u="none">
                <a:solidFill>
                  <a:srgbClr val="FB923C"/>
                </a:solidFill>
                <a:latin typeface="Inter"/>
              </a:rPr>
              <a:t>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81025" y="1247775"/>
            <a:ext cx="11029950" cy="9525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1025" y="1744265"/>
            <a:ext cx="3422600" cy="4426594"/>
          </a:xfrm>
          <a:prstGeom prst="roundRect">
            <a:avLst>
              <a:gd name="adj" fmla="val 3339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4625" y="1744265"/>
            <a:ext cx="3422600" cy="4426594"/>
          </a:xfrm>
          <a:prstGeom prst="roundRect">
            <a:avLst>
              <a:gd name="adj" fmla="val 3339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8225" y="1744265"/>
            <a:ext cx="3422600" cy="4426594"/>
          </a:xfrm>
          <a:prstGeom prst="roundRect">
            <a:avLst>
              <a:gd name="adj" fmla="val 3339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5075" y="2182415"/>
            <a:ext cx="514350" cy="5143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2001" y="2182415"/>
            <a:ext cx="647700" cy="5143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2276" y="2182415"/>
            <a:ext cx="514350" cy="5143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1025" y="581025"/>
            <a:ext cx="11610975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300" i="0" u="none">
                <a:solidFill>
                  <a:srgbClr val="F8FAFC"/>
                </a:solidFill>
                <a:latin typeface="Outfit"/>
              </a:rPr>
              <a:t>1. Topical Restriction (The Domain Gatekeeper)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3392" y="2992040"/>
            <a:ext cx="1737717" cy="333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2100" i="0" u="none">
                <a:solidFill>
                  <a:srgbClr val="F8FAFC"/>
                </a:solidFill>
                <a:latin typeface="Outfit"/>
              </a:rPr>
              <a:t>The "Why"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293" y="3468290"/>
            <a:ext cx="3540062" cy="1447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Unrestricted bots waste compute cost, create brand reputation risks, and expose systems to prompt injection vectors.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08202" y="2992040"/>
            <a:ext cx="2375296" cy="333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2100" i="0" u="none">
                <a:solidFill>
                  <a:srgbClr val="F8FAFC"/>
                </a:solidFill>
                <a:latin typeface="Outfit"/>
              </a:rPr>
              <a:t>The Mechanics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5894" y="3468290"/>
            <a:ext cx="3540062" cy="11578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b="1" sz="1425" i="0" u="none">
                <a:solidFill>
                  <a:srgbClr val="9CA3AF"/>
                </a:solidFill>
                <a:latin typeface="Inter"/>
              </a:rPr>
              <a:t>Semantic Routing: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Converts prompts to vectors and compares against allowed clusters.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894" y="4769048"/>
            <a:ext cx="3540062" cy="86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b="1" sz="1425" i="0" u="none">
                <a:solidFill>
                  <a:srgbClr val="9CA3AF"/>
                </a:solidFill>
                <a:latin typeface="Inter"/>
              </a:rPr>
              <a:t>Classifiers: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Fast models label queries ON_TOPIC or OFF_TOPIC.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834" y="2992040"/>
            <a:ext cx="1875234" cy="333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2100" i="0" u="none">
                <a:solidFill>
                  <a:srgbClr val="F8FAFC"/>
                </a:solidFill>
                <a:latin typeface="Outfit"/>
              </a:rPr>
              <a:t>The Gotcha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494" y="3468290"/>
            <a:ext cx="3540062" cy="11578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System prompts ("Only discuss finance") fail against creative jailbreaks ("Pretend you are grandma reading bank rates").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81025" y="1247775"/>
            <a:ext cx="11029950" cy="9525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1025" y="1852017"/>
            <a:ext cx="5395912" cy="1986557"/>
          </a:xfrm>
          <a:prstGeom prst="roundRect">
            <a:avLst>
              <a:gd name="adj" fmla="val 5753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5062" y="1852017"/>
            <a:ext cx="5395912" cy="1986557"/>
          </a:xfrm>
          <a:prstGeom prst="roundRect">
            <a:avLst>
              <a:gd name="adj" fmla="val 5753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81025" y="4076700"/>
            <a:ext cx="5395912" cy="1986557"/>
          </a:xfrm>
          <a:prstGeom prst="roundRect">
            <a:avLst>
              <a:gd name="adj" fmla="val 5753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5062" y="4076700"/>
            <a:ext cx="5395912" cy="1986557"/>
          </a:xfrm>
          <a:prstGeom prst="roundRect">
            <a:avLst>
              <a:gd name="adj" fmla="val 5753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2185392"/>
            <a:ext cx="266700" cy="2667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" y="4410075"/>
            <a:ext cx="333375" cy="2667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337" y="4410075"/>
            <a:ext cx="200025" cy="266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025" y="581025"/>
            <a:ext cx="11610975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300" i="0" u="none">
                <a:solidFill>
                  <a:srgbClr val="F8FAFC"/>
                </a:solidFill>
                <a:latin typeface="Outfit"/>
              </a:rPr>
              <a:t>2. Output Validators (The Four Categories)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2147292"/>
            <a:ext cx="6307038" cy="333375"/>
          </a:xfrm>
          <a:prstGeom prst="rect">
            <a:avLst/>
          </a:prstGeom>
          <a:noFill/>
        </p:spPr>
        <p:txBody>
          <a:bodyPr wrap="none" lIns="36195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Safety &amp; Security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2623542"/>
            <a:ext cx="4900612" cy="7768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b="0" sz="1275" i="0" u="none">
                <a:solidFill>
                  <a:srgbClr val="9CA3AF"/>
                </a:solidFill>
                <a:latin typeface="Inter"/>
              </a:rPr>
              <a:t>Detects toxicity, hate speech, or the leakage of sensitive data. Scans text to ensure no Social Security Numbers, API keys, or credit cards are exposed.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337" y="2147292"/>
            <a:ext cx="5681662" cy="333375"/>
          </a:xfrm>
          <a:prstGeom prst="rect">
            <a:avLst/>
          </a:prstGeom>
          <a:noFill/>
        </p:spPr>
        <p:txBody>
          <a:bodyPr wrap="none" lIns="9525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Factuality &amp; Grounding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337" y="2623542"/>
            <a:ext cx="4900612" cy="7768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b="0" sz="1275" i="0" u="none">
                <a:solidFill>
                  <a:srgbClr val="9CA3AF"/>
                </a:solidFill>
                <a:latin typeface="Inter"/>
              </a:rPr>
              <a:t>Prevents hallucinations. In RAG systems, it compares the LLM's output against source documents to ensure it didn't fabricate legal precedents or fake URLs.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" y="4371975"/>
            <a:ext cx="6307038" cy="333375"/>
          </a:xfrm>
          <a:prstGeom prst="rect">
            <a:avLst/>
          </a:prstGeom>
          <a:noFill/>
        </p:spPr>
        <p:txBody>
          <a:bodyPr wrap="none" lIns="428625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Business Logic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300" y="4848225"/>
            <a:ext cx="4900612" cy="7768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b="0" sz="1275" i="0" u="none">
                <a:solidFill>
                  <a:srgbClr val="9CA3AF"/>
                </a:solidFill>
                <a:latin typeface="Inter"/>
              </a:rPr>
              <a:t>Enforces company rules and constraints. For example, blocking specific competitor names or verifying a refund amount does not exceed the original purchase total.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337" y="4371975"/>
            <a:ext cx="5681662" cy="333375"/>
          </a:xfrm>
          <a:prstGeom prst="rect">
            <a:avLst/>
          </a:prstGeom>
          <a:noFill/>
        </p:spPr>
        <p:txBody>
          <a:bodyPr wrap="none" lIns="295275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Structure &amp; Syntax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337" y="4848225"/>
            <a:ext cx="4900612" cy="7768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b="0" sz="1275" i="0" u="none">
                <a:solidFill>
                  <a:srgbClr val="9CA3AF"/>
                </a:solidFill>
                <a:latin typeface="Inter"/>
              </a:rPr>
              <a:t>Guarantees machine-readability. Ensures the output is strictly parsable code (like JSON) without missing brackets or conversational filler ("Here is your data:").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81025" y="1247775"/>
            <a:ext cx="11029950" cy="9525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1025" y="2174825"/>
            <a:ext cx="5276850" cy="3565624"/>
          </a:xfrm>
          <a:prstGeom prst="roundRect">
            <a:avLst>
              <a:gd name="adj" fmla="val 3205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334125" y="2174825"/>
            <a:ext cx="5276850" cy="3565624"/>
          </a:xfrm>
          <a:prstGeom prst="roundRect">
            <a:avLst>
              <a:gd name="adj" fmla="val 3205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" y="2603450"/>
            <a:ext cx="200025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2819548"/>
            <a:ext cx="333375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1025" y="581025"/>
            <a:ext cx="11610975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300" i="0" u="none">
                <a:solidFill>
                  <a:srgbClr val="F8FAFC"/>
                </a:solidFill>
                <a:latin typeface="Outfit"/>
              </a:rPr>
              <a:t>3. Structured Guardrails (The Data Contract)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565350"/>
            <a:ext cx="5900737" cy="333375"/>
          </a:xfrm>
          <a:prstGeom prst="rect">
            <a:avLst/>
          </a:prstGeom>
          <a:noFill/>
        </p:spPr>
        <p:txBody>
          <a:bodyPr wrap="none" lIns="295275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The Why &amp; The Gotcha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041600"/>
            <a:ext cx="4591050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LLMs generate prose, but systems need parsable APIs.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763416"/>
            <a:ext cx="4591050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A single missing quote or introductory phrase ("Here is your data:") crashes downstream apps.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628108"/>
            <a:ext cx="4591050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FB923C"/>
                </a:solidFill>
                <a:latin typeface="Inter"/>
              </a:rPr>
              <a:t>Guardrails turn a "chat tool" into an "API endpoint."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4650" y="2781448"/>
            <a:ext cx="5467350" cy="333375"/>
          </a:xfrm>
          <a:prstGeom prst="rect">
            <a:avLst/>
          </a:prstGeom>
          <a:noFill/>
        </p:spPr>
        <p:txBody>
          <a:bodyPr wrap="none" lIns="428625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The Mechanics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4650" y="3257698"/>
            <a:ext cx="54673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9CA3AF"/>
                </a:solidFill>
                <a:latin typeface="Inter"/>
              </a:rPr>
              <a:t>Schema Definition: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Strict contracts using Pydantic.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4650" y="3690044"/>
            <a:ext cx="4591050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9CA3AF"/>
                </a:solidFill>
                <a:latin typeface="Inter"/>
              </a:rPr>
              <a:t>Constrained Sampling: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Modifying token generation to enforce JSON syntax.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4650" y="4411860"/>
            <a:ext cx="4591050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9CA3AF"/>
                </a:solidFill>
                <a:latin typeface="Inter"/>
              </a:rPr>
              <a:t>Retry Loops: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Automatically feeding syntax errors back to the LLM for self-correction.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81025" y="1247775"/>
            <a:ext cx="5276850" cy="9525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5" y="9525"/>
            <a:ext cx="584835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1025" y="581025"/>
            <a:ext cx="5640705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300" i="0" u="none">
                <a:solidFill>
                  <a:srgbClr val="F8FAFC"/>
                </a:solidFill>
                <a:latin typeface="Outfit"/>
              </a:rPr>
              <a:t>The Unified Scenario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1025" y="1638300"/>
            <a:ext cx="6596062" cy="335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b="1" sz="1650" i="0" u="none">
                <a:solidFill>
                  <a:srgbClr val="F8FAFC"/>
                </a:solidFill>
                <a:latin typeface="Inter"/>
              </a:rPr>
              <a:t>Building an AI agent for car insurance claims.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1025" y="2211585"/>
            <a:ext cx="6925865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10B981"/>
                </a:solidFill>
                <a:latin typeface="Outfit"/>
              </a:rPr>
              <a:t>1. Topical Restriction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1025" y="2621160"/>
            <a:ext cx="5372100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A3A3A3"/>
                </a:solidFill>
                <a:latin typeface="Inter"/>
              </a:rPr>
              <a:t>Ensures the user isn't asking the bot to write Python code or discuss politics.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1025" y="3628727"/>
            <a:ext cx="6925865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38BDF8"/>
                </a:solidFill>
                <a:latin typeface="Outfit"/>
              </a:rPr>
              <a:t>2. Output Validators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1025" y="4038302"/>
            <a:ext cx="5372100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A3A3A3"/>
                </a:solidFill>
                <a:latin typeface="Inter"/>
              </a:rPr>
              <a:t>Checks that the bot doesn't accidentally apologize and claim 100% legal fault on behalf of the company.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5045868"/>
            <a:ext cx="6925865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B923C"/>
                </a:solidFill>
                <a:latin typeface="Outfit"/>
              </a:rPr>
              <a:t>3. Structured 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025" y="5455443"/>
            <a:ext cx="5372100" cy="86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A3A3A3"/>
                </a:solidFill>
                <a:latin typeface="Inter"/>
              </a:rPr>
              <a:t>Ensures final data is clean JSON (</a:t>
            </a:r>
            <a:r>
              <a:rPr b="0" sz="1425" i="0" u="none">
                <a:solidFill>
                  <a:srgbClr val="A3A3A3"/>
                </a:solidFill>
                <a:latin typeface="Inter"/>
              </a:rPr>
              <a:t>{"claim_type": "fender_bender", "estimated_damage": 1200}</a:t>
            </a:r>
            <a:r>
              <a:rPr b="0" sz="1425" i="0" u="none">
                <a:solidFill>
                  <a:srgbClr val="A3A3A3"/>
                </a:solidFill>
                <a:latin typeface="Inter"/>
              </a:rPr>
              <a:t>) for the backend database.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81025" y="1232743"/>
            <a:ext cx="11029950" cy="9525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1025" y="5461545"/>
            <a:ext cx="11029950" cy="830460"/>
          </a:xfrm>
          <a:prstGeom prst="roundRect">
            <a:avLst>
              <a:gd name="adj" fmla="val 9175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1025" y="2244179"/>
            <a:ext cx="3422600" cy="2836366"/>
          </a:xfrm>
          <a:prstGeom prst="roundRect">
            <a:avLst>
              <a:gd name="adj" fmla="val 4029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4625" y="2244179"/>
            <a:ext cx="3422600" cy="2836366"/>
          </a:xfrm>
          <a:prstGeom prst="roundRect">
            <a:avLst>
              <a:gd name="adj" fmla="val 4029"/>
            </a:avLst>
          </a:prstGeom>
          <a:solidFill>
            <a:srgbClr val="1A1A1A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88225" y="2244179"/>
            <a:ext cx="3422600" cy="2836366"/>
          </a:xfrm>
          <a:prstGeom prst="roundRect">
            <a:avLst>
              <a:gd name="adj" fmla="val 4029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8413" y="2682329"/>
            <a:ext cx="447675" cy="5143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676" y="2682329"/>
            <a:ext cx="514350" cy="5143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2276" y="2682329"/>
            <a:ext cx="514350" cy="5143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025" y="565993"/>
            <a:ext cx="11610975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300" i="0" u="none">
                <a:solidFill>
                  <a:srgbClr val="F8FAFC"/>
                </a:solidFill>
                <a:latin typeface="Outfit"/>
              </a:rPr>
              <a:t>The Engineering Trade-Off Trilemma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025" y="1623268"/>
            <a:ext cx="11610975" cy="335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b="1" sz="1650" i="0" u="none">
                <a:solidFill>
                  <a:srgbClr val="FB923C"/>
                </a:solidFill>
                <a:latin typeface="Inter"/>
              </a:rPr>
              <a:t>Why not deploy 50 guardrails on every prompt?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-244078" y="5709195"/>
            <a:ext cx="12680156" cy="335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b="0" sz="1650" i="0" u="none">
                <a:solidFill>
                  <a:srgbClr val="F8FAFC"/>
                </a:solidFill>
                <a:latin typeface="Inter"/>
              </a:rPr>
              <a:t>A great AI Engineer builds </a:t>
            </a:r>
            <a:r>
              <a:rPr b="1" sz="1650" i="0" u="none">
                <a:solidFill>
                  <a:srgbClr val="FB923C"/>
                </a:solidFill>
                <a:latin typeface="Inter"/>
              </a:rPr>
              <a:t>just enough guardrails</a:t>
            </a:r>
            <a:r>
              <a:rPr b="0" sz="1650" i="0" u="none">
                <a:solidFill>
                  <a:srgbClr val="F8FAFC"/>
                </a:solidFill>
                <a:latin typeface="Inter"/>
              </a:rPr>
              <a:t> to minimize risk without destroying user experience.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2167" y="3491954"/>
            <a:ext cx="1340167" cy="333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2100" i="0" u="none">
                <a:solidFill>
                  <a:srgbClr val="F8FAFC"/>
                </a:solidFill>
                <a:latin typeface="Outfit"/>
              </a:rPr>
              <a:t>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969" y="3968204"/>
            <a:ext cx="2976562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Adds 50ms to 2s per check.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795" y="3491954"/>
            <a:ext cx="890111" cy="333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2100" i="0" u="none">
                <a:solidFill>
                  <a:srgbClr val="F8FAFC"/>
                </a:solidFill>
                <a:latin typeface="Outfit"/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894" y="3968204"/>
            <a:ext cx="3540062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Secondary models triple API expenses.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24304" y="3491954"/>
            <a:ext cx="2350293" cy="333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2100" i="0" u="none">
                <a:solidFill>
                  <a:srgbClr val="F8FAFC"/>
                </a:solidFill>
                <a:latin typeface="Outfit"/>
              </a:rPr>
              <a:t>False Positives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9494" y="3968204"/>
            <a:ext cx="3540062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Strict rules block legitimate queries.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81025" y="1247775"/>
            <a:ext cx="11029950" cy="9525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66900" y="581025"/>
            <a:ext cx="2562225" cy="523875"/>
          </a:xfrm>
          <a:prstGeom prst="rect">
            <a:avLst/>
          </a:prstGeom>
          <a:solidFill>
            <a:srgbClr val="F86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5" y="2052637"/>
            <a:ext cx="5276850" cy="3810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3650" y="2062162"/>
            <a:ext cx="5257800" cy="37909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25" y="4156025"/>
            <a:ext cx="285750" cy="2476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25" y="5214937"/>
            <a:ext cx="171450" cy="2476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1025" y="581025"/>
            <a:ext cx="11610975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300" i="0" u="none">
                <a:solidFill>
                  <a:srgbClr val="F8FAFC"/>
                </a:solidFill>
                <a:latin typeface="Outfit"/>
              </a:rPr>
              <a:t>Enter: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6900" y="581025"/>
            <a:ext cx="3202781" cy="523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300" i="0" u="none">
                <a:solidFill>
                  <a:srgbClr val="F8FAFC"/>
                </a:solidFill>
                <a:latin typeface="Outfit"/>
              </a:rPr>
              <a:t>Guardrails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1670000"/>
            <a:ext cx="6925865" cy="333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The 30-Second Pitch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025" y="2146250"/>
            <a:ext cx="537210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D1D5DB"/>
                </a:solidFill>
                <a:latin typeface="Inter"/>
              </a:rPr>
              <a:t>An open-source Python framework acting as a quality assurance inspector between the LLM and your app. It ensures generated text is safe, factual, correctly formatted, and compliant.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1025" y="3651200"/>
            <a:ext cx="6925865" cy="333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The Quality Control Analogy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650" y="4127450"/>
            <a:ext cx="4943475" cy="86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E5E7EB"/>
                </a:solidFill>
                <a:latin typeface="Inter"/>
              </a:rPr>
              <a:t>The Assembly Robot (LLM):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Fast, creative, powerful, but occasionally forgets a door or paints the car the wrong color.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650" y="5186362"/>
            <a:ext cx="4943475" cy="86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E5E7EB"/>
                </a:solidFill>
                <a:latin typeface="Inter"/>
              </a:rPr>
              <a:t>The Inspector (Guardrails AI):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Scans every car at the end of the line. If perfect, it passes. If broken, it fixes it, sends it back, or scraps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025" y="4070300"/>
            <a:ext cx="161925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0" sz="2250" i="0" u="none">
                <a:solidFill>
                  <a:srgbClr val="FB923C"/>
                </a:solidFill>
                <a:latin typeface="Inter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025" y="5129212"/>
            <a:ext cx="161925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0" sz="2250" i="0" u="none">
                <a:solidFill>
                  <a:srgbClr val="FB923C"/>
                </a:solidFill>
                <a:latin typeface="Inter"/>
              </a:rPr>
              <a:t>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81025" y="1158626"/>
            <a:ext cx="11029950" cy="9525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1025" y="1549151"/>
            <a:ext cx="5372100" cy="2078087"/>
          </a:xfrm>
          <a:prstGeom prst="roundRect">
            <a:avLst>
              <a:gd name="adj" fmla="val 5500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38875" y="1549151"/>
            <a:ext cx="5372100" cy="2078087"/>
          </a:xfrm>
          <a:prstGeom prst="roundRect">
            <a:avLst>
              <a:gd name="adj" fmla="val 5500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81025" y="3912989"/>
            <a:ext cx="5372100" cy="2453282"/>
          </a:xfrm>
          <a:prstGeom prst="roundRect">
            <a:avLst>
              <a:gd name="adj" fmla="val 4659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38875" y="3912989"/>
            <a:ext cx="5372100" cy="2453282"/>
          </a:xfrm>
          <a:prstGeom prst="roundRect">
            <a:avLst>
              <a:gd name="adj" fmla="val 4659"/>
            </a:avLst>
          </a:prstGeom>
          <a:solidFill>
            <a:srgbClr val="111111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1882526"/>
            <a:ext cx="266700" cy="2667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1882526"/>
            <a:ext cx="266700" cy="2667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300" y="4433887"/>
            <a:ext cx="304800" cy="2667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4150" y="4246364"/>
            <a:ext cx="266700" cy="2667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1025" y="491876"/>
            <a:ext cx="11610975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300" i="0" u="none">
                <a:solidFill>
                  <a:srgbClr val="F8FAFC"/>
                </a:solidFill>
                <a:latin typeface="Outfit"/>
              </a:rPr>
              <a:t>4 Core Concepts of Guardrails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1844426"/>
            <a:ext cx="6275784" cy="333375"/>
          </a:xfrm>
          <a:prstGeom prst="rect">
            <a:avLst/>
          </a:prstGeom>
          <a:noFill/>
        </p:spPr>
        <p:txBody>
          <a:bodyPr wrap="none" lIns="36195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1. The Guard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2320676"/>
            <a:ext cx="4876800" cy="86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The core object wrapping your LLM API call. It acts as the physical bouncer intercepting text going in and coming out.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4150" y="1844426"/>
            <a:ext cx="5657850" cy="333375"/>
          </a:xfrm>
          <a:prstGeom prst="rect">
            <a:avLst/>
          </a:prstGeom>
          <a:noFill/>
        </p:spPr>
        <p:txBody>
          <a:bodyPr wrap="none" lIns="36195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2. Validators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4150" y="2320676"/>
            <a:ext cx="4876800" cy="86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Specific checks applied to text (e.g., "Contains profanity?", "Leaked SSN?", "Valid JSON?", "Mentioned competitor?").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300" y="4395787"/>
            <a:ext cx="6275784" cy="333375"/>
          </a:xfrm>
          <a:prstGeom prst="rect">
            <a:avLst/>
          </a:prstGeom>
          <a:noFill/>
        </p:spPr>
        <p:txBody>
          <a:bodyPr wrap="none" lIns="40005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3. The Guardrails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4872037"/>
            <a:ext cx="4876800" cy="86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An "App Store" for AI safety. Download pre-tested, open-source ML models for PII, toxicity, etc., with a single `pip install` instead of writing complex regex.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4150" y="4208264"/>
            <a:ext cx="5657850" cy="333375"/>
          </a:xfrm>
          <a:prstGeom prst="rect">
            <a:avLst/>
          </a:prstGeom>
          <a:noFill/>
        </p:spPr>
        <p:txBody>
          <a:bodyPr wrap="none" lIns="36195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F8FAFC"/>
                </a:solidFill>
                <a:latin typeface="Outfit"/>
              </a:rPr>
              <a:t>4. Remediation (on_fail)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4150" y="4684514"/>
            <a:ext cx="56578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• </a:t>
            </a:r>
            <a:r>
              <a:rPr b="1" sz="1425" i="0" u="none">
                <a:solidFill>
                  <a:srgbClr val="9CA3AF"/>
                </a:solidFill>
                <a:latin typeface="Inter"/>
              </a:rPr>
              <a:t>exception: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Hard block &amp; raise error.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4150" y="5050184"/>
            <a:ext cx="56578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• </a:t>
            </a:r>
            <a:r>
              <a:rPr b="1" sz="1425" i="0" u="none">
                <a:solidFill>
                  <a:srgbClr val="9CA3AF"/>
                </a:solidFill>
                <a:latin typeface="Inter"/>
              </a:rPr>
              <a:t>reask: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Auto-healing (send back to LLM).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4150" y="5415855"/>
            <a:ext cx="56578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• </a:t>
            </a:r>
            <a:r>
              <a:rPr b="1" sz="1425" i="0" u="none">
                <a:solidFill>
                  <a:srgbClr val="9CA3AF"/>
                </a:solidFill>
                <a:latin typeface="Inter"/>
              </a:rPr>
              <a:t>fix: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On-the-fly redaction without extra API calls.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4150" y="5781526"/>
            <a:ext cx="5657850" cy="289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9CA3AF"/>
                </a:solidFill>
                <a:latin typeface="Inter"/>
              </a:rPr>
              <a:t>• </a:t>
            </a:r>
            <a:r>
              <a:rPr b="1" sz="1425" i="0" u="none">
                <a:solidFill>
                  <a:srgbClr val="9CA3AF"/>
                </a:solidFill>
                <a:latin typeface="Inter"/>
              </a:rPr>
              <a:t>refuse:</a:t>
            </a:r>
            <a:r>
              <a:rPr b="0" sz="1425" i="0" u="none">
                <a:solidFill>
                  <a:srgbClr val="9CA3AF"/>
                </a:solidFill>
                <a:latin typeface="Inter"/>
              </a:rPr>
              <a:t> Canned safe response.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666"/>
            </a:avLst>
          </a:prstGeom>
          <a:solidFill>
            <a:srgbClr val="0A0A0A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52525" y="1819275"/>
            <a:ext cx="9886950" cy="9525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525" y="2209800"/>
            <a:ext cx="9886950" cy="78477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525" y="2985045"/>
            <a:ext cx="98869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525" y="2985045"/>
            <a:ext cx="988695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525" y="2359223"/>
            <a:ext cx="857250" cy="4762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525" y="3143994"/>
            <a:ext cx="857250" cy="476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2525" y="1152525"/>
            <a:ext cx="1048131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300" i="0" u="none">
                <a:solidFill>
                  <a:srgbClr val="F8FAFC"/>
                </a:solidFill>
                <a:latin typeface="Outfit"/>
              </a:rPr>
              <a:t>Image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7900" y="2352675"/>
            <a:ext cx="9429750" cy="1980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b="0" sz="975" i="0" u="none">
                <a:solidFill>
                  <a:srgbClr val="9CA3AF"/>
                </a:solidFill>
                <a:latin typeface="Inter"/>
              </a:rPr>
              <a:t>https://media.easy-peasy.ai/896d09bf-c199-418a-82a1-4305c2411d1d/9024f422-0fcc-4a98-a24d-99faa845dd58_medium.webp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7900" y="2598390"/>
            <a:ext cx="1976437" cy="243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9CA3AF"/>
                </a:solidFill>
                <a:latin typeface="Inte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Inter"/>
              </a:rPr>
              <a:t>easy-peasy.ai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7900" y="3137445"/>
            <a:ext cx="9858375" cy="1980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b="0" sz="975" i="0" u="none">
                <a:solidFill>
                  <a:srgbClr val="9CA3AF"/>
                </a:solidFill>
                <a:latin typeface="Inter"/>
              </a:rPr>
              <a:t>https://www.slideteam.net/media/catalog/product/cache/1280x720/m/a/manufacturing_quality_control_flow_chart_diagram_slide01.jpg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7900" y="3383160"/>
            <a:ext cx="2452687" cy="243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9CA3AF"/>
                </a:solidFill>
                <a:latin typeface="Inte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Inter"/>
              </a:rPr>
              <a:t>www.slideteam.net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