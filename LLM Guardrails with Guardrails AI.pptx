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Algerian" panose="04020705040A02060702" pitchFamily="82" charset="0"/>
      <p:regular r:id="rId16"/>
    </p:embeddedFont>
    <p:embeddedFont>
      <p:font typeface="Inter"/>
      <p:bold r:id="rId17"/>
    </p:embeddedFont>
    <p:embeddedFont>
      <p:font typeface="Outfit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82889" y="3115180"/>
            <a:ext cx="5580123" cy="830997"/>
          </a:xfrm>
          <a:prstGeom prst="rect">
            <a:avLst/>
          </a:prstGeom>
          <a:solidFill>
            <a:srgbClr val="F86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4296" y="2212627"/>
            <a:ext cx="7263407" cy="2492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5400" b="1" dirty="0">
                <a:solidFill>
                  <a:srgbClr val="F8FAFC"/>
                </a:solidFill>
                <a:latin typeface="Outfit"/>
              </a:rPr>
              <a:t>LLM Guardrails</a:t>
            </a:r>
          </a:p>
          <a:p>
            <a:pPr algn="ctr"/>
            <a:r>
              <a:rPr lang="en-IN" sz="5400" b="1" dirty="0">
                <a:solidFill>
                  <a:srgbClr val="F8FAFC"/>
                </a:solidFill>
                <a:latin typeface="Outfit"/>
              </a:rPr>
              <a:t>With </a:t>
            </a:r>
            <a:r>
              <a:rPr lang="en-IN" sz="5400" b="1" dirty="0">
                <a:solidFill>
                  <a:schemeClr val="accent5">
                    <a:lumMod val="50000"/>
                  </a:schemeClr>
                </a:solidFill>
                <a:latin typeface="Outfit"/>
              </a:rPr>
              <a:t>Guardrails AI</a:t>
            </a:r>
          </a:p>
          <a:p>
            <a:pPr algn="ctr"/>
            <a:endParaRPr sz="5400" b="1" i="0" u="none" dirty="0">
              <a:solidFill>
                <a:srgbClr val="F8FAFC"/>
              </a:solidFill>
              <a:latin typeface="Outfi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42030" y="4136677"/>
            <a:ext cx="4907947" cy="3398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IN" sz="1800" b="0" i="0" u="none" dirty="0">
                <a:solidFill>
                  <a:srgbClr val="A3A3A3"/>
                </a:solidFill>
                <a:latin typeface="Inter"/>
              </a:rPr>
              <a:t>Prerequisites : </a:t>
            </a:r>
            <a:r>
              <a:rPr sz="1800" b="0" i="0" u="none" dirty="0">
                <a:solidFill>
                  <a:srgbClr val="A3A3A3"/>
                </a:solidFill>
                <a:latin typeface="Inter"/>
              </a:rPr>
              <a:t>The Responsible A</a:t>
            </a:r>
            <a:r>
              <a:rPr lang="en-IN" dirty="0">
                <a:solidFill>
                  <a:srgbClr val="A3A3A3"/>
                </a:solidFill>
                <a:latin typeface="Inter"/>
              </a:rPr>
              <a:t>I and Python Basics</a:t>
            </a:r>
            <a:endParaRPr sz="1800" b="0" i="0" u="none" dirty="0">
              <a:solidFill>
                <a:srgbClr val="A3A3A3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650" y="3010048"/>
            <a:ext cx="2857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950" y="3518594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262" y="4027140"/>
            <a:ext cx="25717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4825" y="4535685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3837" y="5044231"/>
            <a:ext cx="2857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45468" y="1200298"/>
            <a:ext cx="8501062" cy="771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Outfit"/>
              </a:rPr>
              <a:t>Foundational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8296" y="2962423"/>
            <a:ext cx="5155406" cy="365670"/>
          </a:xfrm>
          <a:prstGeom prst="rect">
            <a:avLst/>
          </a:prstGeom>
          <a:noFill/>
        </p:spPr>
        <p:txBody>
          <a:bodyPr wrap="none" lIns="428625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D1D5DB"/>
                </a:solidFill>
                <a:latin typeface="Inter"/>
              </a:rPr>
              <a:t>The Non-Deterministic Black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8296" y="3470969"/>
            <a:ext cx="5155406" cy="365670"/>
          </a:xfrm>
          <a:prstGeom prst="rect">
            <a:avLst/>
          </a:prstGeom>
          <a:noFill/>
        </p:spPr>
        <p:txBody>
          <a:bodyPr wrap="none" lIns="371475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D1D5DB"/>
                </a:solidFill>
                <a:latin typeface="Inter"/>
              </a:rPr>
              <a:t>Alignment vs.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8296" y="3979515"/>
            <a:ext cx="5155406" cy="365670"/>
          </a:xfrm>
          <a:prstGeom prst="rect">
            <a:avLst/>
          </a:prstGeom>
          <a:noFill/>
        </p:spPr>
        <p:txBody>
          <a:bodyPr wrap="none" lIns="40005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D1D5DB"/>
                </a:solidFill>
                <a:latin typeface="Inter"/>
              </a:rPr>
              <a:t>The Sandwich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296" y="4488060"/>
            <a:ext cx="5155406" cy="365670"/>
          </a:xfrm>
          <a:prstGeom prst="rect">
            <a:avLst/>
          </a:prstGeom>
          <a:noFill/>
        </p:spPr>
        <p:txBody>
          <a:bodyPr wrap="none" lIns="371475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D1D5DB"/>
                </a:solidFill>
                <a:latin typeface="Inter"/>
              </a:rPr>
              <a:t>The Five Core Vulnerabilities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8296" y="4996606"/>
            <a:ext cx="5155406" cy="365670"/>
          </a:xfrm>
          <a:prstGeom prst="rect">
            <a:avLst/>
          </a:prstGeom>
          <a:noFill/>
        </p:spPr>
        <p:txBody>
          <a:bodyPr wrap="none" lIns="428625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D1D5DB"/>
                </a:solidFill>
                <a:latin typeface="Inter"/>
              </a:rPr>
              <a:t>Live Lab: Pipeline 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247775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1025" y="5184278"/>
            <a:ext cx="11029950" cy="689520"/>
          </a:xfrm>
          <a:prstGeom prst="roundRect">
            <a:avLst>
              <a:gd name="adj" fmla="val 11051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79575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581025"/>
            <a:ext cx="116109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The Non-Deterministic Black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273843" y="5384303"/>
            <a:ext cx="1273968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1" i="0" u="none">
                <a:solidFill>
                  <a:srgbClr val="FB923C"/>
                </a:solidFill>
                <a:latin typeface="Inter"/>
              </a:rPr>
              <a:t>The Core Problem: Forcing predictable safety onto an unpredictable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041475"/>
            <a:ext cx="6925865" cy="333375"/>
          </a:xfrm>
          <a:prstGeom prst="rect">
            <a:avLst/>
          </a:prstGeom>
          <a:noFill/>
        </p:spPr>
        <p:txBody>
          <a:bodyPr wrap="none" lIns="36195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Traditional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2517725"/>
            <a:ext cx="6596062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F8FAFC"/>
                </a:solidFill>
                <a:latin typeface="Inter"/>
              </a:rPr>
              <a:t>Deterministic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4125" y="2041475"/>
            <a:ext cx="5857875" cy="33337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Large Language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4125" y="2517725"/>
            <a:ext cx="585787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F8FAFC"/>
                </a:solidFill>
                <a:latin typeface="Inter"/>
              </a:rPr>
              <a:t>Probabilistic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73896"/>
            <a:ext cx="626268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 dirty="0">
                <a:solidFill>
                  <a:srgbClr val="E5E7EB"/>
                </a:solidFill>
                <a:latin typeface="Inter"/>
              </a:rPr>
              <a:t>Predictable execution:</a:t>
            </a:r>
            <a:r>
              <a:rPr sz="1425" b="0" i="0" u="none" dirty="0">
                <a:solidFill>
                  <a:srgbClr val="9CA3AF"/>
                </a:solidFill>
                <a:latin typeface="Inter"/>
              </a:rPr>
              <a:t> 2 + 2 always equals 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53866"/>
            <a:ext cx="626268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E5E7EB"/>
                </a:solidFill>
                <a:latin typeface="Inter"/>
              </a:rPr>
              <a:t>Unit-testable: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Standardized expected outputs.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33837"/>
            <a:ext cx="626268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E5E7EB"/>
                </a:solidFill>
                <a:latin typeface="Inter"/>
              </a:rPr>
              <a:t>Strict logic: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Follows exact programmed paths.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0" y="3073896"/>
            <a:ext cx="5524500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E5E7EB"/>
                </a:solidFill>
                <a:latin typeface="Inter"/>
              </a:rPr>
              <a:t>Predictive text: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Calculates next-word statistics.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0" y="3553866"/>
            <a:ext cx="5524500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E5E7EB"/>
                </a:solidFill>
                <a:latin typeface="Inter"/>
              </a:rPr>
              <a:t>Variable output: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Identical prompts yield different results.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0" y="4033837"/>
            <a:ext cx="50387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E5E7EB"/>
                </a:solidFill>
                <a:latin typeface="Inter"/>
              </a:rPr>
              <a:t>Unreliable compliance: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System instructions easily bypassed.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3016746"/>
            <a:ext cx="1619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FB923C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3496716"/>
            <a:ext cx="1619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FB923C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3976687"/>
            <a:ext cx="1619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FB923C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4125" y="3016746"/>
            <a:ext cx="1619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FB923C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4125" y="3496716"/>
            <a:ext cx="1619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FB923C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4125" y="3976687"/>
            <a:ext cx="1619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FB923C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247775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1025" y="2713129"/>
            <a:ext cx="5276850" cy="2554337"/>
          </a:xfrm>
          <a:prstGeom prst="roundRect">
            <a:avLst>
              <a:gd name="adj" fmla="val 4474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34125" y="2680394"/>
            <a:ext cx="5276850" cy="2554337"/>
          </a:xfrm>
          <a:prstGeom prst="roundRect">
            <a:avLst>
              <a:gd name="adj" fmla="val 4474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3109019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3109019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581025"/>
            <a:ext cx="11610975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3300" b="1" i="0" u="none" dirty="0">
                <a:solidFill>
                  <a:srgbClr val="F8FAFC"/>
                </a:solidFill>
                <a:latin typeface="Outfit"/>
              </a:rPr>
              <a:t>Prompt</a:t>
            </a:r>
            <a:r>
              <a:rPr sz="3300" b="1" i="0" u="none" dirty="0">
                <a:solidFill>
                  <a:srgbClr val="F8FAFC"/>
                </a:solidFill>
                <a:latin typeface="Outfit"/>
              </a:rPr>
              <a:t> vs.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3070919"/>
            <a:ext cx="3479992" cy="323165"/>
          </a:xfrm>
          <a:prstGeom prst="rect">
            <a:avLst/>
          </a:prstGeom>
          <a:noFill/>
        </p:spPr>
        <p:txBody>
          <a:bodyPr wrap="none" lIns="361950" tIns="0" rIns="0" bIns="0" anchor="t">
            <a:spAutoFit/>
          </a:bodyPr>
          <a:lstStyle/>
          <a:p>
            <a:pPr algn="l"/>
            <a:r>
              <a:rPr lang="en-IN" sz="2100" b="1" i="0" u="none" dirty="0">
                <a:solidFill>
                  <a:srgbClr val="F8FAFC"/>
                </a:solidFill>
                <a:latin typeface="Outfit"/>
              </a:rPr>
              <a:t>System Prompt</a:t>
            </a:r>
            <a:r>
              <a:rPr lang="en-IN" sz="2100" b="1" dirty="0">
                <a:solidFill>
                  <a:srgbClr val="F8FAFC"/>
                </a:solidFill>
                <a:latin typeface="Outfit"/>
              </a:rPr>
              <a:t> (Sign Board)</a:t>
            </a:r>
            <a:endParaRPr sz="2100" b="1" i="0" u="none" dirty="0">
              <a:solidFill>
                <a:srgbClr val="F8FAFC"/>
              </a:solidFill>
              <a:latin typeface="Outfi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1550" y="3547169"/>
            <a:ext cx="3362587" cy="220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sz="1430" dirty="0">
                <a:solidFill>
                  <a:schemeClr val="bg1"/>
                </a:solidFill>
                <a:latin typeface="Inter"/>
              </a:rPr>
              <a:t>Sets the model's role, tone, and task framing.</a:t>
            </a:r>
            <a:endParaRPr sz="1430" i="0" u="none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550" y="3979515"/>
            <a:ext cx="3978205" cy="220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sz="1430" dirty="0">
                <a:solidFill>
                  <a:schemeClr val="bg1"/>
                </a:solidFill>
                <a:latin typeface="Inter"/>
              </a:rPr>
              <a:t>Acts as internal instructions inside the model context.</a:t>
            </a:r>
            <a:endParaRPr sz="1430" b="0" i="0" u="none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1025" y="4361804"/>
            <a:ext cx="4454425" cy="44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1"/>
            <a:r>
              <a:rPr lang="en-IN" sz="1430" dirty="0">
                <a:solidFill>
                  <a:schemeClr val="bg1"/>
                </a:solidFill>
                <a:latin typeface="Inter"/>
              </a:rPr>
              <a:t>Easy to edit, but vulnerable to being ignored or overridden via prompt injections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3070919"/>
            <a:ext cx="5467350" cy="333375"/>
          </a:xfrm>
          <a:prstGeom prst="rect">
            <a:avLst/>
          </a:prstGeom>
          <a:noFill/>
        </p:spPr>
        <p:txBody>
          <a:bodyPr wrap="none" lIns="428625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F8FAFC"/>
                </a:solidFill>
                <a:latin typeface="Outfit"/>
              </a:rPr>
              <a:t>Guardrails (The Bouncer)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3547169"/>
            <a:ext cx="2198422" cy="2694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 dirty="0">
                <a:solidFill>
                  <a:schemeClr val="bg1"/>
                </a:solidFill>
                <a:latin typeface="Inter"/>
              </a:rPr>
              <a:t>External deterministic scripts.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4650" y="3979515"/>
            <a:ext cx="2103717" cy="2694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 dirty="0">
                <a:solidFill>
                  <a:schemeClr val="bg1"/>
                </a:solidFill>
                <a:latin typeface="Inter"/>
              </a:rPr>
              <a:t>Runtime traffic interception.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4650" y="4411860"/>
            <a:ext cx="2530501" cy="2694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 dirty="0">
                <a:solidFill>
                  <a:schemeClr val="bg1"/>
                </a:solidFill>
                <a:latin typeface="Inter"/>
              </a:rPr>
              <a:t>Independent of LLM prompt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247775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1025" y="2323207"/>
            <a:ext cx="3422600" cy="3268712"/>
          </a:xfrm>
          <a:prstGeom prst="roundRect">
            <a:avLst>
              <a:gd name="adj" fmla="val 3496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4625" y="2323207"/>
            <a:ext cx="3422600" cy="3268712"/>
          </a:xfrm>
          <a:prstGeom prst="roundRect">
            <a:avLst>
              <a:gd name="adj" fmla="val 3496"/>
            </a:avLst>
          </a:prstGeom>
          <a:solidFill>
            <a:srgbClr val="1A1A1A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88225" y="2323207"/>
            <a:ext cx="3422600" cy="3268712"/>
          </a:xfrm>
          <a:prstGeom prst="roundRect">
            <a:avLst>
              <a:gd name="adj" fmla="val 3496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075" y="2761357"/>
            <a:ext cx="514350" cy="514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676" y="2761357"/>
            <a:ext cx="514350" cy="514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2276" y="2761357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581025"/>
            <a:ext cx="116109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The Sandwich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7097" y="3570982"/>
            <a:ext cx="2450306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Input Guardrail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532" y="4047232"/>
            <a:ext cx="311943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Intercepts initial user prompt.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782" y="4479577"/>
            <a:ext cx="292893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Blocks malicious injections.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3255" y="3570982"/>
            <a:ext cx="152519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Core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7804" y="4047232"/>
            <a:ext cx="3036093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Processes sanitized prompt.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894" y="4479577"/>
            <a:ext cx="3540062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Generates probabilistic response.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8028" y="3570982"/>
            <a:ext cx="276284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Output Guardrail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5685" y="4047232"/>
            <a:ext cx="3107531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Validates response structure.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8560" y="4479577"/>
            <a:ext cx="2821781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Filters toxic hallucinations.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247775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48086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123307"/>
            <a:ext cx="2000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698527"/>
            <a:ext cx="17145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273748"/>
            <a:ext cx="25717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848969"/>
            <a:ext cx="1714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6109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The Five Core Vulnerabilities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2519511"/>
            <a:ext cx="11182350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E5E7EB"/>
                </a:solidFill>
                <a:latin typeface="Inter"/>
              </a:rPr>
              <a:t>Topical Drift: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Refusing off-topic persona requests.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094732"/>
            <a:ext cx="11182350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E5E7EB"/>
                </a:solidFill>
                <a:latin typeface="Inter"/>
              </a:rPr>
              <a:t>Prompt Injection: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Blocking malicious systemic overrides.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3669952"/>
            <a:ext cx="11182350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E5E7EB"/>
                </a:solidFill>
                <a:latin typeface="Inter"/>
              </a:rPr>
              <a:t>Hallucinations: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Stopping invented factual claims.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4245173"/>
            <a:ext cx="11182350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E5E7EB"/>
                </a:solidFill>
                <a:latin typeface="Inter"/>
              </a:rPr>
              <a:t>Data Leakage (PII):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Preventing sensitive data exposure.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4820394"/>
            <a:ext cx="11182350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E5E7EB"/>
                </a:solidFill>
                <a:latin typeface="Inter"/>
              </a:rPr>
              <a:t>Structural Failure: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Enforcing strict JSON schemas.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2462361"/>
            <a:ext cx="1619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FB923C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3037582"/>
            <a:ext cx="1619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FB923C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3612802"/>
            <a:ext cx="1619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FB923C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4188023"/>
            <a:ext cx="1619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FB923C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025" y="4763244"/>
            <a:ext cx="1619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FB923C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247775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1025" y="1744265"/>
            <a:ext cx="3422600" cy="4426594"/>
          </a:xfrm>
          <a:prstGeom prst="roundRect">
            <a:avLst>
              <a:gd name="adj" fmla="val 3339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4625" y="1744265"/>
            <a:ext cx="3422600" cy="4426594"/>
          </a:xfrm>
          <a:prstGeom prst="roundRect">
            <a:avLst>
              <a:gd name="adj" fmla="val 3339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88225" y="1744265"/>
            <a:ext cx="3422600" cy="4426594"/>
          </a:xfrm>
          <a:prstGeom prst="roundRect">
            <a:avLst>
              <a:gd name="adj" fmla="val 3339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075" y="2182415"/>
            <a:ext cx="514350" cy="514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001" y="2182415"/>
            <a:ext cx="647700" cy="514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2276" y="2182415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581025"/>
            <a:ext cx="116109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F8FAFC"/>
                </a:solidFill>
                <a:latin typeface="Outfit"/>
              </a:rPr>
              <a:t>1. Topical Restriction (The Domain Gatekeeper)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3392" y="2992040"/>
            <a:ext cx="173771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The "Why"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293" y="3468290"/>
            <a:ext cx="3540062" cy="1447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Unrestricted bots waste compute cost, create brand reputation risks, and expose systems to prompt injection vectors.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8202" y="2992040"/>
            <a:ext cx="2375296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The Mechanics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894" y="3468290"/>
            <a:ext cx="3540062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1" i="0" u="none">
                <a:solidFill>
                  <a:srgbClr val="9CA3AF"/>
                </a:solidFill>
                <a:latin typeface="Inter"/>
              </a:rPr>
              <a:t>Semantic Routing: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Converts prompts to vectors and compares against allowed clusters.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894" y="4769048"/>
            <a:ext cx="3540062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1" i="0" u="none">
                <a:solidFill>
                  <a:srgbClr val="9CA3AF"/>
                </a:solidFill>
                <a:latin typeface="Inter"/>
              </a:rPr>
              <a:t>Classifiers: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Fast models label queries ON_TOPIC or OFF_TOPIC.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834" y="2992040"/>
            <a:ext cx="1875234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The Gotcha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494" y="3468290"/>
            <a:ext cx="3540062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System prompts ("Only discuss finance") fail against creative jailbreaks ("Pretend you are grandma reading bank rates").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247775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1025" y="1852017"/>
            <a:ext cx="5395912" cy="1986557"/>
          </a:xfrm>
          <a:prstGeom prst="roundRect">
            <a:avLst>
              <a:gd name="adj" fmla="val 5753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5062" y="1852017"/>
            <a:ext cx="5395912" cy="1986557"/>
          </a:xfrm>
          <a:prstGeom prst="roundRect">
            <a:avLst>
              <a:gd name="adj" fmla="val 5753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81025" y="4076700"/>
            <a:ext cx="5395912" cy="1986557"/>
          </a:xfrm>
          <a:prstGeom prst="roundRect">
            <a:avLst>
              <a:gd name="adj" fmla="val 5753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5062" y="4076700"/>
            <a:ext cx="5395912" cy="1986557"/>
          </a:xfrm>
          <a:prstGeom prst="roundRect">
            <a:avLst>
              <a:gd name="adj" fmla="val 5753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185392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410075"/>
            <a:ext cx="33337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337" y="4410075"/>
            <a:ext cx="20002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581025"/>
            <a:ext cx="116109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2. Output Validators (The Four Categories)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147292"/>
            <a:ext cx="6307038" cy="333375"/>
          </a:xfrm>
          <a:prstGeom prst="rect">
            <a:avLst/>
          </a:prstGeom>
          <a:noFill/>
        </p:spPr>
        <p:txBody>
          <a:bodyPr wrap="none" lIns="36195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Safety &amp;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623542"/>
            <a:ext cx="4900612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CA3AF"/>
                </a:solidFill>
                <a:latin typeface="Inter"/>
              </a:rPr>
              <a:t>Detects toxicity, hate speech, or the leakage of sensitive data. Scans text to ensure no Social Security Numbers, API keys, or credit cards are exposed.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337" y="2147292"/>
            <a:ext cx="5681662" cy="33337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Factuality &amp; Grounding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337" y="2623542"/>
            <a:ext cx="4900612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CA3AF"/>
                </a:solidFill>
                <a:latin typeface="Inter"/>
              </a:rPr>
              <a:t>Prevents hallucinations. In RAG systems, it compares the LLM's output against source documents to ensure it didn't fabricate legal precedents or fake URLs.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371975"/>
            <a:ext cx="6307038" cy="333375"/>
          </a:xfrm>
          <a:prstGeom prst="rect">
            <a:avLst/>
          </a:prstGeom>
          <a:noFill/>
        </p:spPr>
        <p:txBody>
          <a:bodyPr wrap="none" lIns="428625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Business Logic &amp;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848225"/>
            <a:ext cx="4900612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CA3AF"/>
                </a:solidFill>
                <a:latin typeface="Inter"/>
              </a:rPr>
              <a:t>Enforces company rules and constraints. For example, blocking specific competitor names or verifying a refund amount does not exceed the original purchase total.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337" y="4371975"/>
            <a:ext cx="5681662" cy="333375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Structure &amp; Syntax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337" y="4848225"/>
            <a:ext cx="4900612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CA3AF"/>
                </a:solidFill>
                <a:latin typeface="Inter"/>
              </a:rPr>
              <a:t>Guarantees machine-readability. Ensures the output is strictly parsable code (like JSON) without missing brackets or conversational filler ("Here is your data:").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247775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1025" y="2174825"/>
            <a:ext cx="5276850" cy="3565624"/>
          </a:xfrm>
          <a:prstGeom prst="roundRect">
            <a:avLst>
              <a:gd name="adj" fmla="val 3205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34125" y="2174825"/>
            <a:ext cx="5276850" cy="3565624"/>
          </a:xfrm>
          <a:prstGeom prst="roundRect">
            <a:avLst>
              <a:gd name="adj" fmla="val 3205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603450"/>
            <a:ext cx="2000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2819548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581025"/>
            <a:ext cx="116109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3. Structured Guardrails (The Data Contract)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2565350"/>
            <a:ext cx="5900737" cy="333375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The Why &amp; The Gotcha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041600"/>
            <a:ext cx="45910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LLMs generate prose, but systems need parsable APIs.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3763416"/>
            <a:ext cx="45910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A single missing quote or introductory phrase ("Here is your data:") crashes downstream apps.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4628108"/>
            <a:ext cx="45910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FB923C"/>
                </a:solidFill>
                <a:latin typeface="Inter"/>
              </a:rPr>
              <a:t>Guardrails turn a "chat tool" into an "API endpoint."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2781448"/>
            <a:ext cx="5467350" cy="333375"/>
          </a:xfrm>
          <a:prstGeom prst="rect">
            <a:avLst/>
          </a:prstGeom>
          <a:noFill/>
        </p:spPr>
        <p:txBody>
          <a:bodyPr wrap="none" lIns="428625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The Mechanics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3257698"/>
            <a:ext cx="5467350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9CA3AF"/>
                </a:solidFill>
                <a:latin typeface="Inter"/>
              </a:rPr>
              <a:t>Schema Definition: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Strict contracts using Pydantic.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4650" y="3690044"/>
            <a:ext cx="45910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9CA3AF"/>
                </a:solidFill>
                <a:latin typeface="Inter"/>
              </a:rPr>
              <a:t>Constrained Sampling: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Modifying token generation to enforce JSON syntax.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4650" y="4411860"/>
            <a:ext cx="45910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9CA3AF"/>
                </a:solidFill>
                <a:latin typeface="Inter"/>
              </a:rPr>
              <a:t>Retry Loops: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Automatically feeding syntax errors back to the LLM for self-correction.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247775"/>
            <a:ext cx="5276850" cy="9525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581025"/>
            <a:ext cx="564070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The Unified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1638300"/>
            <a:ext cx="6596062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Building an AI agent for car insurance claims.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211585"/>
            <a:ext cx="692586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0B981"/>
                </a:solidFill>
                <a:latin typeface="Outfit"/>
              </a:rPr>
              <a:t>1. Topical Restriction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621160"/>
            <a:ext cx="53721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A3A3A3"/>
                </a:solidFill>
                <a:latin typeface="Inter"/>
              </a:rPr>
              <a:t>Ensures the user isn't asking the bot to write Python code or discuss politics.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628727"/>
            <a:ext cx="692586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utfit"/>
              </a:rPr>
              <a:t>2. Output Validators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4038302"/>
            <a:ext cx="53721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A3A3A3"/>
                </a:solidFill>
                <a:latin typeface="Inter"/>
              </a:rPr>
              <a:t>Checks that the bot doesn't accidentally apologize and claim 100% legal fault on behalf of the company.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5045868"/>
            <a:ext cx="692586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B923C"/>
                </a:solidFill>
                <a:latin typeface="Outfit"/>
              </a:rPr>
              <a:t>3. Structured 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5455443"/>
            <a:ext cx="537210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A3A3A3"/>
                </a:solidFill>
                <a:latin typeface="Inter"/>
              </a:rPr>
              <a:t>Ensures final data is clean JSON ({"claim_type": "fender_bender", "estimated_damage": 1200}) for the backend database.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232743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1025" y="5461545"/>
            <a:ext cx="11029950" cy="830460"/>
          </a:xfrm>
          <a:prstGeom prst="roundRect">
            <a:avLst>
              <a:gd name="adj" fmla="val 9175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81025" y="2244179"/>
            <a:ext cx="3422600" cy="2836366"/>
          </a:xfrm>
          <a:prstGeom prst="roundRect">
            <a:avLst>
              <a:gd name="adj" fmla="val 4029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4625" y="2244179"/>
            <a:ext cx="3422600" cy="2836366"/>
          </a:xfrm>
          <a:prstGeom prst="roundRect">
            <a:avLst>
              <a:gd name="adj" fmla="val 4029"/>
            </a:avLst>
          </a:prstGeom>
          <a:solidFill>
            <a:srgbClr val="1A1A1A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88225" y="2244179"/>
            <a:ext cx="3422600" cy="2836366"/>
          </a:xfrm>
          <a:prstGeom prst="roundRect">
            <a:avLst>
              <a:gd name="adj" fmla="val 4029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413" y="2682329"/>
            <a:ext cx="447675" cy="514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676" y="2682329"/>
            <a:ext cx="514350" cy="514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2276" y="2682329"/>
            <a:ext cx="514350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565993"/>
            <a:ext cx="116109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The Engineering Trade-Off Trilemma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1623268"/>
            <a:ext cx="11610975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Why not deploy 50 guardrails on every prompt?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44078" y="5709195"/>
            <a:ext cx="12680156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Inter"/>
              </a:rPr>
              <a:t>A great AI Engineer builds </a:t>
            </a:r>
            <a:r>
              <a:rPr sz="1650" b="1" i="0" u="none">
                <a:solidFill>
                  <a:srgbClr val="FB923C"/>
                </a:solidFill>
                <a:latin typeface="Inter"/>
              </a:rPr>
              <a:t>just enough guardrails</a:t>
            </a:r>
            <a:r>
              <a:rPr sz="1650" b="0" i="0" u="none">
                <a:solidFill>
                  <a:srgbClr val="F8FAFC"/>
                </a:solidFill>
                <a:latin typeface="Inter"/>
              </a:rPr>
              <a:t> to minimize risk without destroying user experience.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2167" y="3491954"/>
            <a:ext cx="134016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969" y="3968204"/>
            <a:ext cx="2976562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Adds 50ms to 2s per check.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0795" y="3491954"/>
            <a:ext cx="890111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894" y="3968204"/>
            <a:ext cx="3540062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Secondary models triple API expenses.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4304" y="3491954"/>
            <a:ext cx="2350293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False Positives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9494" y="3968204"/>
            <a:ext cx="3540062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Strict rules block legitimate queries.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247775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66900" y="581025"/>
            <a:ext cx="2562225" cy="523875"/>
          </a:xfrm>
          <a:prstGeom prst="rect">
            <a:avLst/>
          </a:prstGeom>
          <a:solidFill>
            <a:srgbClr val="F86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156025"/>
            <a:ext cx="2857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214937"/>
            <a:ext cx="1714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6109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Enter: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6900" y="581025"/>
            <a:ext cx="3202781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Guardrails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1670000"/>
            <a:ext cx="692586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The 30-Second Pitch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2146250"/>
            <a:ext cx="53721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Inter"/>
              </a:rPr>
              <a:t>An open-source Python framework acting as a quality assurance inspector between the LLM and your app. It ensures generated text is safe, factual, correctly formatted, and compliant.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3651200"/>
            <a:ext cx="692586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The Quality Control Analogy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4127450"/>
            <a:ext cx="4943475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E5E7EB"/>
                </a:solidFill>
                <a:latin typeface="Inter"/>
              </a:rPr>
              <a:t>The Assembly Robot (LLM):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Fast, creative, powerful, but occasionally forgets a door or paints the car the wrong color.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50" y="5186362"/>
            <a:ext cx="4943475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E5E7EB"/>
                </a:solidFill>
                <a:latin typeface="Inter"/>
              </a:rPr>
              <a:t>The Inspector (Guardrails AI):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Scans every car at the end of the line. If perfect, it passes. If broken, it fixes it, sends it back, or scraps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070300"/>
            <a:ext cx="1619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FB923C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5129212"/>
            <a:ext cx="16192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250" b="0" i="0" u="none">
                <a:solidFill>
                  <a:srgbClr val="FB923C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158626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1025" y="1549151"/>
            <a:ext cx="5372100" cy="2078087"/>
          </a:xfrm>
          <a:prstGeom prst="roundRect">
            <a:avLst>
              <a:gd name="adj" fmla="val 5500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38875" y="1549151"/>
            <a:ext cx="5372100" cy="2078087"/>
          </a:xfrm>
          <a:prstGeom prst="roundRect">
            <a:avLst>
              <a:gd name="adj" fmla="val 5500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81025" y="3912989"/>
            <a:ext cx="5372100" cy="2453282"/>
          </a:xfrm>
          <a:prstGeom prst="roundRect">
            <a:avLst>
              <a:gd name="adj" fmla="val 4659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38875" y="3912989"/>
            <a:ext cx="5372100" cy="2453282"/>
          </a:xfrm>
          <a:prstGeom prst="roundRect">
            <a:avLst>
              <a:gd name="adj" fmla="val 4659"/>
            </a:avLst>
          </a:prstGeom>
          <a:solidFill>
            <a:srgbClr val="111111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1882526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1882526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4433887"/>
            <a:ext cx="3048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4246364"/>
            <a:ext cx="26670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025" y="491876"/>
            <a:ext cx="116109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4 Core Concepts of Guardrails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1844426"/>
            <a:ext cx="6275784" cy="333375"/>
          </a:xfrm>
          <a:prstGeom prst="rect">
            <a:avLst/>
          </a:prstGeom>
          <a:noFill/>
        </p:spPr>
        <p:txBody>
          <a:bodyPr wrap="none" lIns="36195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1. The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320676"/>
            <a:ext cx="487680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The core object wrapping your LLM API call. It acts as the physical bouncer intercepting text going in and coming 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150" y="1844426"/>
            <a:ext cx="5657850" cy="333375"/>
          </a:xfrm>
          <a:prstGeom prst="rect">
            <a:avLst/>
          </a:prstGeom>
          <a:noFill/>
        </p:spPr>
        <p:txBody>
          <a:bodyPr wrap="none" lIns="36195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2. Validators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150" y="2320676"/>
            <a:ext cx="487680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Specific checks applied to text (e.g., "Contains profanity?", "Leaked SSN?", "Valid JSON?", "Mentioned competitor?").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395787"/>
            <a:ext cx="6275784" cy="333375"/>
          </a:xfrm>
          <a:prstGeom prst="rect">
            <a:avLst/>
          </a:prstGeom>
          <a:noFill/>
        </p:spPr>
        <p:txBody>
          <a:bodyPr wrap="none" lIns="40005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3. The Guardrails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872037"/>
            <a:ext cx="487680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An "App Store" for AI safety. Download pre-tested, open-source ML models for PII, toxicity, etc., with a single `pip install` instead of writing complex regex.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150" y="4208264"/>
            <a:ext cx="5657850" cy="333375"/>
          </a:xfrm>
          <a:prstGeom prst="rect">
            <a:avLst/>
          </a:prstGeom>
          <a:noFill/>
        </p:spPr>
        <p:txBody>
          <a:bodyPr wrap="none" lIns="36195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utfit"/>
              </a:rPr>
              <a:t>4. Remediation (on_fail)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150" y="4684514"/>
            <a:ext cx="5657850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• </a:t>
            </a:r>
            <a:r>
              <a:rPr sz="1425" b="1" i="0" u="none">
                <a:solidFill>
                  <a:srgbClr val="9CA3AF"/>
                </a:solidFill>
                <a:latin typeface="Inter"/>
              </a:rPr>
              <a:t>exception: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Hard block &amp; raise error.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4150" y="5050184"/>
            <a:ext cx="5657850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• </a:t>
            </a:r>
            <a:r>
              <a:rPr sz="1425" b="1" i="0" u="none">
                <a:solidFill>
                  <a:srgbClr val="9CA3AF"/>
                </a:solidFill>
                <a:latin typeface="Inter"/>
              </a:rPr>
              <a:t>reask: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Auto-healing (send back to LLM).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150" y="5415855"/>
            <a:ext cx="5657850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• </a:t>
            </a:r>
            <a:r>
              <a:rPr sz="1425" b="1" i="0" u="none">
                <a:solidFill>
                  <a:srgbClr val="9CA3AF"/>
                </a:solidFill>
                <a:latin typeface="Inter"/>
              </a:rPr>
              <a:t>fix: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On-the-fly redaction without extra API calls.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150" y="5781526"/>
            <a:ext cx="5657850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• </a:t>
            </a:r>
            <a:r>
              <a:rPr sz="1425" b="1" i="0" u="none">
                <a:solidFill>
                  <a:srgbClr val="9CA3AF"/>
                </a:solidFill>
                <a:latin typeface="Inter"/>
              </a:rPr>
              <a:t>refuse: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Canned safe response.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666"/>
            </a:avLst>
          </a:prstGeom>
          <a:solidFill>
            <a:srgbClr val="0A0A0A"/>
          </a:solidFill>
          <a:ln w="952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latin typeface="Algerian" panose="04020705040A02060702" pitchFamily="82" charset="0"/>
              </a:rPr>
              <a:t>Questions?</a:t>
            </a:r>
          </a:p>
          <a:p>
            <a:pPr algn="ctr"/>
            <a:endParaRPr sz="4400" dirty="0">
              <a:latin typeface="Algerian" panose="04020705040A02060702" pitchFamily="82" charset="0"/>
            </a:endParaRP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3DB6D0AA-A7B1-A11C-BBC9-BE31632B2363}"/>
              </a:ext>
            </a:extLst>
          </p:cNvPr>
          <p:cNvSpPr/>
          <p:nvPr/>
        </p:nvSpPr>
        <p:spPr>
          <a:xfrm>
            <a:off x="4003625" y="1755649"/>
            <a:ext cx="4097960" cy="2633472"/>
          </a:xfrm>
          <a:prstGeom prst="roundRect">
            <a:avLst>
              <a:gd name="adj" fmla="val 4029"/>
            </a:avLst>
          </a:prstGeom>
          <a:noFill/>
          <a:ln w="952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5800D1-0413-6C37-F21A-8DAEECCF6F4C}"/>
              </a:ext>
            </a:extLst>
          </p:cNvPr>
          <p:cNvSpPr txBox="1"/>
          <p:nvPr/>
        </p:nvSpPr>
        <p:spPr>
          <a:xfrm>
            <a:off x="1197864" y="4809744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Repo link :  https://github.com/mdegreeteaching/LLM_Guardrails-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970</Words>
  <Application>Microsoft Office PowerPoint</Application>
  <PresentationFormat>Widescreen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Inter</vt:lpstr>
      <vt:lpstr>Calibri</vt:lpstr>
      <vt:lpstr>Outfit</vt:lpstr>
      <vt:lpstr>Algerian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Amaresh Swamy</cp:lastModifiedBy>
  <cp:revision>3</cp:revision>
  <dcterms:created xsi:type="dcterms:W3CDTF">2013-01-27T09:14:16Z</dcterms:created>
  <dcterms:modified xsi:type="dcterms:W3CDTF">2026-09-26T17:24:42Z</dcterms:modified>
  <cp:category/>
</cp:coreProperties>
</file>